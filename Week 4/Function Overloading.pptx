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2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72" r:id="rId11"/>
  </p:sldIdLst>
  <p:sldSz cx="18288000" cy="10287000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Consolas" pitchFamily="49" charset="0"/>
      <p:regular r:id="rId17"/>
      <p:bold r:id="rId18"/>
      <p:italic r:id="rId19"/>
      <p:boldItalic r:id="rId20"/>
    </p:embeddedFont>
    <p:embeddedFont>
      <p:font typeface="Anton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2" d="100"/>
          <a:sy n="42" d="100"/>
        </p:scale>
        <p:origin x="-126" y="-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6173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7" name="Google Shape;4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8" name="Google Shape;16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1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2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7"/>
          <p:cNvSpPr txBox="1">
            <a:spLocks noGrp="1"/>
          </p:cNvSpPr>
          <p:nvPr>
            <p:ph type="body" idx="1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2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>
            <a:spLocks noGrp="1"/>
          </p:cNvSpPr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body" idx="1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body" idx="2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>
            <a:spLocks noGrp="1"/>
          </p:cNvSpPr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83" name="Google Shape;383;p10"/>
          <p:cNvSpPr>
            <a:spLocks noGrp="1"/>
          </p:cNvSpPr>
          <p:nvPr>
            <p:ph type="pic" idx="2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>
            <a:spLocks noGrp="1"/>
          </p:cNvSpPr>
          <p:nvPr>
            <p:ph type="body" idx="1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sz="1250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38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238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238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1"/>
          <p:cNvGrpSpPr/>
          <p:nvPr/>
        </p:nvGrpSpPr>
        <p:grpSpPr>
          <a:xfrm>
            <a:off x="641008" y="7256645"/>
            <a:ext cx="9097294" cy="1437158"/>
            <a:chOff x="0" y="-47625"/>
            <a:chExt cx="1719710" cy="378511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641008" y="7080577"/>
            <a:ext cx="9097294" cy="1437158"/>
            <a:chOff x="0" y="-47625"/>
            <a:chExt cx="1719710" cy="378511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466" name="Google Shape;466;p1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467" name="Google Shape;467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8" name="Google Shape;468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470" name="Google Shape;470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1" name="Google Shape;471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4" name="Google Shape;474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482" name="Google Shape;482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" name="Google Shape;490;p1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491" name="Google Shape;491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2" name="Google Shape;492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3" name="Google Shape;493;p11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494" name="Google Shape;494;p11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6" name="Google Shape;496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1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498" name="Google Shape;498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9" name="Google Shape;499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1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01" name="Google Shape;501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2" name="Google Shape;502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11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04" name="Google Shape;504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5" name="Google Shape;505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11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07" name="Google Shape;507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8" name="Google Shape;508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1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10" name="Google Shape;510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1" name="Google Shape;511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1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13" name="Google Shape;513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4" name="Google Shape;514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11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16" name="Google Shape;516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7" name="Google Shape;517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8" name="Google Shape;518;p11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19" name="Google Shape;519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0" name="Google Shape;520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2" name="Google Shape;522;p11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523" name="Google Shape;523;p11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524" name="Google Shape;524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5" name="Google Shape;525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1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527" name="Google Shape;527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8" name="Google Shape;528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11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530" name="Google Shape;530;p11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1" name="Google Shape;531;p11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1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533" name="Google Shape;533;p11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4" name="Google Shape;534;p11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5" name="Google Shape;535;p11"/>
          <p:cNvSpPr txBox="1"/>
          <p:nvPr/>
        </p:nvSpPr>
        <p:spPr>
          <a:xfrm>
            <a:off x="844802" y="2958231"/>
            <a:ext cx="88935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smtClean="0">
                <a:solidFill>
                  <a:srgbClr val="393A3F"/>
                </a:solidFill>
                <a:latin typeface="Anton"/>
                <a:sym typeface="Anton"/>
              </a:rPr>
              <a:t>Object Oriented Programming</a:t>
            </a:r>
            <a:endParaRPr sz="1100" dirty="0"/>
          </a:p>
        </p:txBody>
      </p:sp>
      <p:sp>
        <p:nvSpPr>
          <p:cNvPr id="536" name="Google Shape;536;p11"/>
          <p:cNvSpPr txBox="1"/>
          <p:nvPr/>
        </p:nvSpPr>
        <p:spPr>
          <a:xfrm>
            <a:off x="1191550" y="7437471"/>
            <a:ext cx="7815290" cy="110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63" dirty="0" smtClean="0">
                <a:solidFill>
                  <a:srgbClr val="FFFFFF"/>
                </a:solidFill>
                <a:latin typeface="Anton"/>
                <a:sym typeface="Anton"/>
              </a:rPr>
              <a:t>Operator Overloading</a:t>
            </a:r>
            <a:endParaRPr dirty="0"/>
          </a:p>
        </p:txBody>
      </p:sp>
      <p:pic>
        <p:nvPicPr>
          <p:cNvPr id="537" name="Google Shape;53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8500" y="1596000"/>
            <a:ext cx="7051144" cy="65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Function Overloading</a:t>
            </a:r>
            <a:endParaRPr dirty="0"/>
          </a:p>
        </p:txBody>
      </p:sp>
      <p:sp>
        <p:nvSpPr>
          <p:cNvPr id="707" name="Google Shape;707;p13"/>
          <p:cNvSpPr txBox="1"/>
          <p:nvPr/>
        </p:nvSpPr>
        <p:spPr>
          <a:xfrm>
            <a:off x="857900" y="2623962"/>
            <a:ext cx="16723739" cy="30912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4388"/>
              </a:lnSpc>
            </a:pP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Function overloading is a feature in C++ that allows multiple functions to have the same name but different parameter lists</a:t>
            </a:r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852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987" y="1783080"/>
            <a:ext cx="12289574" cy="7589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705;p13"/>
          <p:cNvSpPr txBox="1"/>
          <p:nvPr/>
        </p:nvSpPr>
        <p:spPr>
          <a:xfrm>
            <a:off x="857901" y="315638"/>
            <a:ext cx="146868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Demonstration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391532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5;p13"/>
          <p:cNvSpPr txBox="1"/>
          <p:nvPr/>
        </p:nvSpPr>
        <p:spPr>
          <a:xfrm>
            <a:off x="857901" y="315638"/>
            <a:ext cx="146868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Demonstration</a:t>
            </a:r>
            <a:endParaRPr sz="7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1606202"/>
            <a:ext cx="12396349" cy="7674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194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5;p13"/>
          <p:cNvSpPr txBox="1"/>
          <p:nvPr/>
        </p:nvSpPr>
        <p:spPr>
          <a:xfrm>
            <a:off x="857901" y="315638"/>
            <a:ext cx="146868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Demonstration</a:t>
            </a:r>
            <a:endParaRPr sz="7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01" y="1606202"/>
            <a:ext cx="11932920" cy="7674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95260" y="6897112"/>
            <a:ext cx="9144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main()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SmartCamera</a:t>
            </a:r>
            <a:r>
              <a:rPr lang="en-US" sz="2400" dirty="0"/>
              <a:t> </a:t>
            </a:r>
            <a:r>
              <a:rPr lang="en-US" sz="2400" dirty="0" err="1"/>
              <a:t>smCamera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rgbClr val="FF0000"/>
                </a:solidFill>
              </a:rPr>
              <a:t>     </a:t>
            </a:r>
            <a:r>
              <a:rPr lang="en-US" sz="2400" dirty="0" err="1" smtClean="0">
                <a:solidFill>
                  <a:srgbClr val="FF0000"/>
                </a:solidFill>
              </a:rPr>
              <a:t>smCamera.capture</a:t>
            </a:r>
            <a:r>
              <a:rPr lang="en-US" sz="2400" dirty="0">
                <a:solidFill>
                  <a:srgbClr val="FF0000"/>
                </a:solidFill>
              </a:rPr>
              <a:t>("Portrait", "B &amp; W");</a:t>
            </a:r>
          </a:p>
          <a:p>
            <a:endParaRPr lang="en-US" sz="2400" dirty="0"/>
          </a:p>
          <a:p>
            <a:r>
              <a:rPr lang="en-US" sz="2400" dirty="0"/>
              <a:t>    return 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41279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5;p13"/>
          <p:cNvSpPr txBox="1"/>
          <p:nvPr/>
        </p:nvSpPr>
        <p:spPr>
          <a:xfrm>
            <a:off x="857901" y="315638"/>
            <a:ext cx="146868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Demonstration</a:t>
            </a:r>
            <a:endParaRPr sz="7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01" y="1606202"/>
            <a:ext cx="11932920" cy="7674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95260" y="6897112"/>
            <a:ext cx="9144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 smtClean="0"/>
              <a:t>int</a:t>
            </a:r>
            <a:r>
              <a:rPr lang="en-US" sz="2400" dirty="0" smtClean="0"/>
              <a:t> main()</a:t>
            </a:r>
          </a:p>
          <a:p>
            <a:r>
              <a:rPr lang="en-US" sz="2400" dirty="0" smtClean="0"/>
              <a:t>{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SmartCamera</a:t>
            </a:r>
            <a:r>
              <a:rPr lang="en-US" sz="2400" dirty="0" smtClean="0"/>
              <a:t> </a:t>
            </a:r>
            <a:r>
              <a:rPr lang="en-US" sz="2400" dirty="0" err="1" smtClean="0"/>
              <a:t>smCamera</a:t>
            </a:r>
            <a:r>
              <a:rPr lang="en-US" sz="2400" dirty="0" smtClean="0"/>
              <a:t>;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     </a:t>
            </a:r>
            <a:r>
              <a:rPr lang="en-US" sz="2400" dirty="0" err="1" smtClean="0">
                <a:solidFill>
                  <a:srgbClr val="FF0000"/>
                </a:solidFill>
              </a:rPr>
              <a:t>smCamera.capture</a:t>
            </a:r>
            <a:r>
              <a:rPr lang="en-US" sz="2400" dirty="0" smtClean="0">
                <a:solidFill>
                  <a:srgbClr val="FF0000"/>
                </a:solidFill>
              </a:rPr>
              <a:t>("Portrait");</a:t>
            </a:r>
          </a:p>
          <a:p>
            <a:endParaRPr lang="en-US" sz="2400" dirty="0" smtClean="0"/>
          </a:p>
          <a:p>
            <a:r>
              <a:rPr lang="en-US" sz="2400" dirty="0" smtClean="0"/>
              <a:t>    return 0;</a:t>
            </a:r>
          </a:p>
          <a:p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4" name="Line Callout 1 (Border and Accent Bar) 3"/>
          <p:cNvSpPr/>
          <p:nvPr/>
        </p:nvSpPr>
        <p:spPr>
          <a:xfrm>
            <a:off x="12790821" y="3468112"/>
            <a:ext cx="4823460" cy="3429000"/>
          </a:xfrm>
          <a:prstGeom prst="accentBorderCallout1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Consolas" pitchFamily="49" charset="0"/>
              </a:rPr>
              <a:t>When a </a:t>
            </a:r>
            <a:r>
              <a:rPr lang="en-US" sz="2800" b="1" dirty="0">
                <a:solidFill>
                  <a:srgbClr val="FF0000"/>
                </a:solidFill>
                <a:latin typeface="Consolas" pitchFamily="49" charset="0"/>
              </a:rPr>
              <a:t>child class defines a function with the same name</a:t>
            </a:r>
            <a:r>
              <a:rPr lang="en-US" sz="2800" dirty="0">
                <a:solidFill>
                  <a:srgbClr val="FF0000"/>
                </a:solidFill>
                <a:latin typeface="Consolas" pitchFamily="49" charset="0"/>
              </a:rPr>
              <a:t>, it </a:t>
            </a:r>
            <a:r>
              <a:rPr lang="en-US" sz="2800" b="1" dirty="0">
                <a:solidFill>
                  <a:srgbClr val="FF0000"/>
                </a:solidFill>
                <a:latin typeface="Consolas" pitchFamily="49" charset="0"/>
              </a:rPr>
              <a:t>hides all parent functions with that name</a:t>
            </a:r>
            <a:r>
              <a:rPr lang="en-US" sz="2800" dirty="0">
                <a:solidFill>
                  <a:srgbClr val="FF0000"/>
                </a:solidFill>
                <a:latin typeface="Consolas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4979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5;p13"/>
          <p:cNvSpPr txBox="1"/>
          <p:nvPr/>
        </p:nvSpPr>
        <p:spPr>
          <a:xfrm>
            <a:off x="857901" y="315638"/>
            <a:ext cx="146868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Demonstration</a:t>
            </a:r>
            <a:endParaRPr sz="7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00" y="1153856"/>
            <a:ext cx="13311067" cy="730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7840980" y="6825318"/>
            <a:ext cx="9144000" cy="298543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main()</a:t>
            </a:r>
            <a:br>
              <a:rPr lang="en-US" sz="2000" dirty="0"/>
            </a:br>
            <a:r>
              <a:rPr lang="en-US" sz="2000" dirty="0"/>
              <a:t>{</a:t>
            </a:r>
            <a:br>
              <a:rPr lang="en-US" sz="2000" dirty="0"/>
            </a:br>
            <a:r>
              <a:rPr lang="en-US" sz="2000" dirty="0" err="1"/>
              <a:t>SmartCamera</a:t>
            </a:r>
            <a:r>
              <a:rPr lang="en-US" sz="2000" dirty="0"/>
              <a:t> </a:t>
            </a:r>
            <a:r>
              <a:rPr lang="en-US" sz="2000" dirty="0" err="1"/>
              <a:t>smCamera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400" dirty="0" err="1">
                <a:solidFill>
                  <a:srgbClr val="FF0000"/>
                </a:solidFill>
              </a:rPr>
              <a:t>smCamera.capture</a:t>
            </a:r>
            <a:r>
              <a:rPr lang="en-US" sz="2400" dirty="0">
                <a:solidFill>
                  <a:srgbClr val="FF0000"/>
                </a:solidFill>
              </a:rPr>
              <a:t>("Normal");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 err="1">
                <a:solidFill>
                  <a:srgbClr val="FF0000"/>
                </a:solidFill>
              </a:rPr>
              <a:t>smCamera.capture</a:t>
            </a:r>
            <a:r>
              <a:rPr lang="en-US" sz="2400" dirty="0">
                <a:solidFill>
                  <a:srgbClr val="FF0000"/>
                </a:solidFill>
              </a:rPr>
              <a:t>("Portrait", "B &amp; W");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return 0;</a:t>
            </a:r>
            <a:br>
              <a:rPr lang="en-US" sz="2000" dirty="0"/>
            </a:br>
            <a:r>
              <a:rPr lang="en-US" sz="2000" dirty="0"/>
              <a:t>}</a:t>
            </a:r>
          </a:p>
        </p:txBody>
      </p:sp>
      <p:sp>
        <p:nvSpPr>
          <p:cNvPr id="6" name="Line Callout 1 (Accent Bar) 5"/>
          <p:cNvSpPr/>
          <p:nvPr/>
        </p:nvSpPr>
        <p:spPr>
          <a:xfrm>
            <a:off x="9006840" y="1668780"/>
            <a:ext cx="7818120" cy="1668780"/>
          </a:xfrm>
          <a:prstGeom prst="accentCallout1">
            <a:avLst>
              <a:gd name="adj1" fmla="val 18750"/>
              <a:gd name="adj2" fmla="val -8333"/>
              <a:gd name="adj3" fmla="val 131678"/>
              <a:gd name="adj4" fmla="val -520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itchFamily="49" charset="0"/>
              </a:rPr>
              <a:t>It tells the compiler that the </a:t>
            </a:r>
            <a:r>
              <a:rPr lang="en-US" sz="2000" b="1" dirty="0">
                <a:latin typeface="Consolas" pitchFamily="49" charset="0"/>
              </a:rPr>
              <a:t>parent class version of capture() should also be visible inside the child class</a:t>
            </a:r>
            <a:endParaRPr lang="en-US" sz="20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500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Inheritance Access Specifiers</a:t>
            </a:r>
            <a:endParaRPr sz="105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81417"/>
              </p:ext>
            </p:extLst>
          </p:nvPr>
        </p:nvGraphicFramePr>
        <p:xfrm>
          <a:off x="1554480" y="2948940"/>
          <a:ext cx="13990320" cy="2971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63440"/>
                <a:gridCol w="4663440"/>
                <a:gridCol w="4663440"/>
              </a:tblGrid>
              <a:tr h="1074906">
                <a:tc>
                  <a:txBody>
                    <a:bodyPr/>
                    <a:lstStyle/>
                    <a:p>
                      <a:r>
                        <a:rPr lang="en-US" sz="3200" dirty="0"/>
                        <a:t>Inheritance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Public Members Become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Accessible Outside Object?</a:t>
                      </a:r>
                    </a:p>
                  </a:txBody>
                  <a:tcPr anchor="ctr"/>
                </a:tc>
              </a:tr>
              <a:tr h="632298">
                <a:tc>
                  <a:txBody>
                    <a:bodyPr/>
                    <a:lstStyle/>
                    <a:p>
                      <a:r>
                        <a:rPr lang="en-US" sz="3200"/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</a:tr>
              <a:tr h="632298">
                <a:tc>
                  <a:txBody>
                    <a:bodyPr/>
                    <a:lstStyle/>
                    <a:p>
                      <a:r>
                        <a:rPr lang="en-US" sz="3200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No</a:t>
                      </a:r>
                    </a:p>
                  </a:txBody>
                  <a:tcPr anchor="ctr"/>
                </a:tc>
              </a:tr>
              <a:tr h="632298">
                <a:tc>
                  <a:txBody>
                    <a:bodyPr/>
                    <a:lstStyle/>
                    <a:p>
                      <a:r>
                        <a:rPr lang="en-US" sz="3200"/>
                        <a:t>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No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5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Demonstration</a:t>
            </a:r>
            <a:endParaRPr sz="1050" dirty="0"/>
          </a:p>
        </p:txBody>
      </p:sp>
      <p:sp>
        <p:nvSpPr>
          <p:cNvPr id="3" name="Rectangle 2"/>
          <p:cNvSpPr/>
          <p:nvPr/>
        </p:nvSpPr>
        <p:spPr>
          <a:xfrm>
            <a:off x="857901" y="1963559"/>
            <a:ext cx="8034639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itchFamily="49" charset="0"/>
              </a:rPr>
              <a:t>class Camera</a:t>
            </a:r>
          </a:p>
          <a:p>
            <a:r>
              <a:rPr lang="en-US" sz="3200" dirty="0">
                <a:latin typeface="Consolas" pitchFamily="49" charset="0"/>
              </a:rPr>
              <a:t>{</a:t>
            </a:r>
          </a:p>
          <a:p>
            <a:r>
              <a:rPr lang="en-US" sz="3200" dirty="0">
                <a:latin typeface="Consolas" pitchFamily="49" charset="0"/>
              </a:rPr>
              <a:t>public:</a:t>
            </a:r>
          </a:p>
          <a:p>
            <a:r>
              <a:rPr lang="en-US" sz="3200" dirty="0">
                <a:latin typeface="Consolas" pitchFamily="49" charset="0"/>
              </a:rPr>
              <a:t>    void capture() { }</a:t>
            </a:r>
          </a:p>
          <a:p>
            <a:r>
              <a:rPr lang="en-US" sz="3200" dirty="0">
                <a:latin typeface="Consolas" pitchFamily="49" charset="0"/>
              </a:rPr>
              <a:t>};</a:t>
            </a:r>
          </a:p>
          <a:p>
            <a:endParaRPr lang="en-US" sz="3200" dirty="0">
              <a:latin typeface="Consolas" pitchFamily="49" charset="0"/>
            </a:endParaRPr>
          </a:p>
          <a:p>
            <a:r>
              <a:rPr lang="en-US" sz="3200" dirty="0">
                <a:latin typeface="Consolas" pitchFamily="49" charset="0"/>
              </a:rPr>
              <a:t>class </a:t>
            </a:r>
            <a:r>
              <a:rPr lang="en-US" sz="3200" dirty="0" err="1">
                <a:latin typeface="Consolas" pitchFamily="49" charset="0"/>
              </a:rPr>
              <a:t>SmartCamera</a:t>
            </a:r>
            <a:r>
              <a:rPr lang="en-US" sz="3200" dirty="0">
                <a:latin typeface="Consolas" pitchFamily="49" charset="0"/>
              </a:rPr>
              <a:t> : public Camera</a:t>
            </a:r>
          </a:p>
          <a:p>
            <a:r>
              <a:rPr lang="en-US" sz="3200" dirty="0">
                <a:latin typeface="Consolas" pitchFamily="49" charset="0"/>
              </a:rPr>
              <a:t>{</a:t>
            </a:r>
          </a:p>
          <a:p>
            <a:r>
              <a:rPr lang="en-US" sz="3200" dirty="0">
                <a:latin typeface="Consolas" pitchFamily="49" charset="0"/>
              </a:rPr>
              <a:t>};</a:t>
            </a:r>
          </a:p>
          <a:p>
            <a:endParaRPr lang="en-US" sz="3200" dirty="0">
              <a:latin typeface="Consolas" pitchFamily="49" charset="0"/>
            </a:endParaRPr>
          </a:p>
          <a:p>
            <a:r>
              <a:rPr lang="en-US" sz="3200" dirty="0" err="1">
                <a:latin typeface="Consolas" pitchFamily="49" charset="0"/>
              </a:rPr>
              <a:t>int</a:t>
            </a:r>
            <a:r>
              <a:rPr lang="en-US" sz="3200" dirty="0">
                <a:latin typeface="Consolas" pitchFamily="49" charset="0"/>
              </a:rPr>
              <a:t> main()</a:t>
            </a:r>
          </a:p>
          <a:p>
            <a:r>
              <a:rPr lang="en-US" sz="3200" dirty="0">
                <a:latin typeface="Consolas" pitchFamily="49" charset="0"/>
              </a:rPr>
              <a:t>{</a:t>
            </a:r>
          </a:p>
          <a:p>
            <a:r>
              <a:rPr lang="en-US" sz="3200" dirty="0">
                <a:latin typeface="Consolas" pitchFamily="49" charset="0"/>
              </a:rPr>
              <a:t>    </a:t>
            </a:r>
            <a:r>
              <a:rPr lang="en-US" sz="3200" dirty="0" err="1">
                <a:latin typeface="Consolas" pitchFamily="49" charset="0"/>
              </a:rPr>
              <a:t>SmartCamera</a:t>
            </a:r>
            <a:r>
              <a:rPr lang="en-US" sz="3200" dirty="0">
                <a:latin typeface="Consolas" pitchFamily="49" charset="0"/>
              </a:rPr>
              <a:t> s;</a:t>
            </a:r>
          </a:p>
          <a:p>
            <a:r>
              <a:rPr lang="en-US" sz="3200" dirty="0">
                <a:latin typeface="Consolas" pitchFamily="49" charset="0"/>
              </a:rPr>
              <a:t>    </a:t>
            </a:r>
            <a:r>
              <a:rPr lang="en-US" sz="3200" dirty="0" err="1">
                <a:latin typeface="Consolas" pitchFamily="49" charset="0"/>
              </a:rPr>
              <a:t>s.capture</a:t>
            </a:r>
            <a:r>
              <a:rPr lang="en-US" sz="3200" dirty="0">
                <a:latin typeface="Consolas" pitchFamily="49" charset="0"/>
              </a:rPr>
              <a:t>();   // allowed</a:t>
            </a:r>
          </a:p>
          <a:p>
            <a:r>
              <a:rPr lang="en-US" sz="3200" dirty="0">
                <a:latin typeface="Consolas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9354201" y="2022118"/>
            <a:ext cx="8034639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itchFamily="49" charset="0"/>
              </a:rPr>
              <a:t>class Camera</a:t>
            </a:r>
          </a:p>
          <a:p>
            <a:r>
              <a:rPr lang="en-US" sz="3200" dirty="0">
                <a:latin typeface="Consolas" pitchFamily="49" charset="0"/>
              </a:rPr>
              <a:t>{</a:t>
            </a:r>
          </a:p>
          <a:p>
            <a:r>
              <a:rPr lang="en-US" sz="3200" dirty="0">
                <a:latin typeface="Consolas" pitchFamily="49" charset="0"/>
              </a:rPr>
              <a:t>public:</a:t>
            </a:r>
          </a:p>
          <a:p>
            <a:r>
              <a:rPr lang="en-US" sz="3200" dirty="0">
                <a:latin typeface="Consolas" pitchFamily="49" charset="0"/>
              </a:rPr>
              <a:t>    void capture() { }</a:t>
            </a:r>
          </a:p>
          <a:p>
            <a:r>
              <a:rPr lang="en-US" sz="3200" dirty="0">
                <a:latin typeface="Consolas" pitchFamily="49" charset="0"/>
              </a:rPr>
              <a:t>};</a:t>
            </a:r>
          </a:p>
          <a:p>
            <a:endParaRPr lang="en-US" sz="3200" dirty="0">
              <a:latin typeface="Consolas" pitchFamily="49" charset="0"/>
            </a:endParaRPr>
          </a:p>
          <a:p>
            <a:r>
              <a:rPr lang="en-US" sz="3200" dirty="0">
                <a:latin typeface="Consolas" pitchFamily="49" charset="0"/>
              </a:rPr>
              <a:t>class </a:t>
            </a:r>
            <a:r>
              <a:rPr lang="en-US" sz="3200" dirty="0" err="1">
                <a:latin typeface="Consolas" pitchFamily="49" charset="0"/>
              </a:rPr>
              <a:t>SmartCamera</a:t>
            </a:r>
            <a:r>
              <a:rPr lang="en-US" sz="3200" dirty="0">
                <a:latin typeface="Consolas" pitchFamily="49" charset="0"/>
              </a:rPr>
              <a:t> : </a:t>
            </a:r>
            <a:r>
              <a:rPr lang="en-US" sz="3200" dirty="0" smtClean="0">
                <a:latin typeface="Consolas" pitchFamily="49" charset="0"/>
              </a:rPr>
              <a:t>private Camera</a:t>
            </a:r>
            <a:endParaRPr lang="en-US" sz="3200" dirty="0">
              <a:latin typeface="Consolas" pitchFamily="49" charset="0"/>
            </a:endParaRPr>
          </a:p>
          <a:p>
            <a:r>
              <a:rPr lang="en-US" sz="3200" dirty="0">
                <a:latin typeface="Consolas" pitchFamily="49" charset="0"/>
              </a:rPr>
              <a:t>{</a:t>
            </a:r>
          </a:p>
          <a:p>
            <a:r>
              <a:rPr lang="en-US" sz="3200" dirty="0">
                <a:latin typeface="Consolas" pitchFamily="49" charset="0"/>
              </a:rPr>
              <a:t>};</a:t>
            </a:r>
          </a:p>
          <a:p>
            <a:endParaRPr lang="en-US" sz="3200" dirty="0">
              <a:latin typeface="Consolas" pitchFamily="49" charset="0"/>
            </a:endParaRPr>
          </a:p>
          <a:p>
            <a:r>
              <a:rPr lang="en-US" sz="3200" dirty="0" err="1">
                <a:latin typeface="Consolas" pitchFamily="49" charset="0"/>
              </a:rPr>
              <a:t>int</a:t>
            </a:r>
            <a:r>
              <a:rPr lang="en-US" sz="3200" dirty="0">
                <a:latin typeface="Consolas" pitchFamily="49" charset="0"/>
              </a:rPr>
              <a:t> main()</a:t>
            </a:r>
          </a:p>
          <a:p>
            <a:r>
              <a:rPr lang="en-US" sz="3200" dirty="0">
                <a:latin typeface="Consolas" pitchFamily="49" charset="0"/>
              </a:rPr>
              <a:t>{</a:t>
            </a:r>
          </a:p>
          <a:p>
            <a:r>
              <a:rPr lang="en-US" sz="3200" dirty="0">
                <a:latin typeface="Consolas" pitchFamily="49" charset="0"/>
              </a:rPr>
              <a:t>    </a:t>
            </a:r>
            <a:r>
              <a:rPr lang="en-US" sz="3200" dirty="0" err="1">
                <a:latin typeface="Consolas" pitchFamily="49" charset="0"/>
              </a:rPr>
              <a:t>SmartCamera</a:t>
            </a:r>
            <a:r>
              <a:rPr lang="en-US" sz="3200" dirty="0">
                <a:latin typeface="Consolas" pitchFamily="49" charset="0"/>
              </a:rPr>
              <a:t> s;</a:t>
            </a:r>
          </a:p>
          <a:p>
            <a:r>
              <a:rPr lang="en-US" sz="3200" dirty="0">
                <a:latin typeface="Consolas" pitchFamily="49" charset="0"/>
              </a:rPr>
              <a:t>    </a:t>
            </a:r>
            <a:r>
              <a:rPr lang="en-US" sz="3200" dirty="0" err="1">
                <a:latin typeface="Consolas" pitchFamily="49" charset="0"/>
              </a:rPr>
              <a:t>s.capture</a:t>
            </a:r>
            <a:r>
              <a:rPr lang="en-US" sz="3200" dirty="0">
                <a:latin typeface="Consolas" pitchFamily="49" charset="0"/>
              </a:rPr>
              <a:t>();   // </a:t>
            </a:r>
            <a:r>
              <a:rPr lang="en-US" sz="3200" dirty="0" smtClean="0">
                <a:latin typeface="Consolas" pitchFamily="49" charset="0"/>
              </a:rPr>
              <a:t>not allowed</a:t>
            </a:r>
            <a:endParaRPr lang="en-US" sz="3200" dirty="0">
              <a:latin typeface="Consolas" pitchFamily="49" charset="0"/>
            </a:endParaRPr>
          </a:p>
          <a:p>
            <a:r>
              <a:rPr lang="en-US" sz="3200" dirty="0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248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27"/>
          <p:cNvSpPr/>
          <p:nvPr/>
        </p:nvSpPr>
        <p:spPr>
          <a:xfrm>
            <a:off x="13785666" y="417422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1" name="Google Shape;1691;p27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1692" name="Google Shape;1692;p27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1693" name="Google Shape;1693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94" name="Google Shape;1694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7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1696" name="Google Shape;1696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97" name="Google Shape;1697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8" name="Google Shape;1698;p27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1699" name="Google Shape;1699;p2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0" name="Google Shape;1700;p27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1" name="Google Shape;1701;p27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1702" name="Google Shape;1702;p2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3" name="Google Shape;1703;p27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04" name="Google Shape;1704;p27"/>
          <p:cNvSpPr txBox="1"/>
          <p:nvPr/>
        </p:nvSpPr>
        <p:spPr>
          <a:xfrm>
            <a:off x="1028700" y="726150"/>
            <a:ext cx="8789897" cy="190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  <a:endParaRPr dirty="0"/>
          </a:p>
        </p:txBody>
      </p:sp>
      <p:grpSp>
        <p:nvGrpSpPr>
          <p:cNvPr id="1705" name="Google Shape;1705;p27"/>
          <p:cNvGrpSpPr/>
          <p:nvPr/>
        </p:nvGrpSpPr>
        <p:grpSpPr>
          <a:xfrm rot="10800000">
            <a:off x="8571723" y="933313"/>
            <a:ext cx="5851054" cy="1309820"/>
            <a:chOff x="0" y="0"/>
            <a:chExt cx="7801405" cy="1746426"/>
          </a:xfrm>
        </p:grpSpPr>
        <p:grpSp>
          <p:nvGrpSpPr>
            <p:cNvPr id="1706" name="Google Shape;1706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07" name="Google Shape;1707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8" name="Google Shape;1708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9" name="Google Shape;1709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10" name="Google Shape;1710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1" name="Google Shape;1711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2" name="Google Shape;1712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13" name="Google Shape;1713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4" name="Google Shape;1714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5" name="Google Shape;1715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16" name="Google Shape;1716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7" name="Google Shape;1717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8" name="Google Shape;1718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19" name="Google Shape;1719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0" name="Google Shape;1720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3" name="Google Shape;1723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6" name="Google Shape;1726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7" name="Google Shape;1727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28" name="Google Shape;1728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9" name="Google Shape;1729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0" name="Google Shape;1730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31" name="Google Shape;1731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32" name="Google Shape;1732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3" name="Google Shape;1733;p27"/>
          <p:cNvGrpSpPr/>
          <p:nvPr/>
        </p:nvGrpSpPr>
        <p:grpSpPr>
          <a:xfrm rot="10800000">
            <a:off x="12023215" y="8251030"/>
            <a:ext cx="5851054" cy="1309820"/>
            <a:chOff x="0" y="0"/>
            <a:chExt cx="7801405" cy="1746426"/>
          </a:xfrm>
        </p:grpSpPr>
        <p:grpSp>
          <p:nvGrpSpPr>
            <p:cNvPr id="1734" name="Google Shape;1734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35" name="Google Shape;1735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36" name="Google Shape;1736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7" name="Google Shape;1737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38" name="Google Shape;1738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39" name="Google Shape;1739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0" name="Google Shape;1740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42" name="Google Shape;1742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3" name="Google Shape;1743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44" name="Google Shape;1744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45" name="Google Shape;1745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6" name="Google Shape;1746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47" name="Google Shape;1747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48" name="Google Shape;1748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9" name="Google Shape;1749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50" name="Google Shape;1750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51" name="Google Shape;1751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53" name="Google Shape;1753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54" name="Google Shape;1754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5" name="Google Shape;1755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56" name="Google Shape;1756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57" name="Google Shape;1757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8" name="Google Shape;1758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59" name="Google Shape;1759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60" name="Google Shape;1760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61" name="Google Shape;17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00" y="3023657"/>
            <a:ext cx="9824100" cy="653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211</Words>
  <Application>Microsoft Office PowerPoint</Application>
  <PresentationFormat>Custom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Calibri</vt:lpstr>
      <vt:lpstr>Consolas</vt:lpstr>
      <vt:lpstr>Anton</vt:lpstr>
      <vt:lpstr>Programming Lesson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Shayan Ali Shah</dc:creator>
  <cp:lastModifiedBy>Shahid</cp:lastModifiedBy>
  <cp:revision>50</cp:revision>
  <dcterms:modified xsi:type="dcterms:W3CDTF">2026-03-05T05:57:53Z</dcterms:modified>
</cp:coreProperties>
</file>