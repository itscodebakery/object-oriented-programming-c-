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9"/>
  </p:notesMasterIdLst>
  <p:sldIdLst>
    <p:sldId id="256" r:id="rId2"/>
    <p:sldId id="273" r:id="rId3"/>
    <p:sldId id="277" r:id="rId4"/>
    <p:sldId id="280" r:id="rId5"/>
    <p:sldId id="284" r:id="rId6"/>
    <p:sldId id="281" r:id="rId7"/>
    <p:sldId id="285" r:id="rId8"/>
    <p:sldId id="286" r:id="rId9"/>
    <p:sldId id="287" r:id="rId10"/>
    <p:sldId id="282" r:id="rId11"/>
    <p:sldId id="283" r:id="rId12"/>
    <p:sldId id="278" r:id="rId13"/>
    <p:sldId id="279" r:id="rId14"/>
    <p:sldId id="275" r:id="rId15"/>
    <p:sldId id="276" r:id="rId16"/>
    <p:sldId id="288" r:id="rId17"/>
    <p:sldId id="272" r:id="rId18"/>
  </p:sldIdLst>
  <p:sldSz cx="18288000" cy="10287000"/>
  <p:notesSz cx="6858000" cy="9144000"/>
  <p:embeddedFontLst>
    <p:embeddedFont>
      <p:font typeface="Anton" charset="0"/>
      <p:regular r:id="rId20"/>
    </p:embeddedFont>
    <p:embeddedFont>
      <p:font typeface="Cambria Math" pitchFamily="18" charset="0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2" d="100"/>
          <a:sy n="42" d="100"/>
        </p:scale>
        <p:origin x="-126" y="-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880BF2-A7E4-445C-8668-4838DB5F5FDB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3FEF2F3-01D8-4E6D-9755-7C345CFCC4D6}">
      <dgm:prSet/>
      <dgm:spPr/>
      <dgm:t>
        <a:bodyPr/>
        <a:lstStyle/>
        <a:p>
          <a:pPr rtl="0"/>
          <a:r>
            <a:rPr lang="en-US" b="0" i="0" dirty="0" smtClean="0"/>
            <a:t>In C++, generalization is implemented through Base Classes. </a:t>
          </a:r>
          <a:endParaRPr lang="en-US" dirty="0"/>
        </a:p>
      </dgm:t>
    </dgm:pt>
    <dgm:pt modelId="{56B77844-8FD5-4917-B4A9-7482745CA13E}" type="parTrans" cxnId="{BCFA7680-B7EA-43CA-9D65-900BFD024EBE}">
      <dgm:prSet/>
      <dgm:spPr/>
      <dgm:t>
        <a:bodyPr/>
        <a:lstStyle/>
        <a:p>
          <a:endParaRPr lang="en-US"/>
        </a:p>
      </dgm:t>
    </dgm:pt>
    <dgm:pt modelId="{C93EE6CC-0ED0-4EEE-A927-B729B4A424A2}" type="sibTrans" cxnId="{BCFA7680-B7EA-43CA-9D65-900BFD024EBE}">
      <dgm:prSet/>
      <dgm:spPr/>
      <dgm:t>
        <a:bodyPr/>
        <a:lstStyle/>
        <a:p>
          <a:endParaRPr lang="en-US"/>
        </a:p>
      </dgm:t>
    </dgm:pt>
    <dgm:pt modelId="{1B2281B2-F428-41A7-97C5-9789BD04B1B4}">
      <dgm:prSet/>
      <dgm:spPr/>
      <dgm:t>
        <a:bodyPr/>
        <a:lstStyle/>
        <a:p>
          <a:pPr rtl="0"/>
          <a:r>
            <a:rPr lang="en-US" b="0" i="0" smtClean="0"/>
            <a:t>You take several classes that have similar behaviors and "pull" those common features up into a single parent class.</a:t>
          </a:r>
          <a:endParaRPr lang="en-US"/>
        </a:p>
      </dgm:t>
    </dgm:pt>
    <dgm:pt modelId="{E6114816-84AF-41FA-9F76-2E8BB01F2E55}" type="parTrans" cxnId="{D9C805F0-C1B6-43AC-B8B2-4D03D454DACE}">
      <dgm:prSet/>
      <dgm:spPr/>
      <dgm:t>
        <a:bodyPr/>
        <a:lstStyle/>
        <a:p>
          <a:endParaRPr lang="en-US"/>
        </a:p>
      </dgm:t>
    </dgm:pt>
    <dgm:pt modelId="{2687AA4B-5780-4F82-9B0D-9E2D58D4ED7F}" type="sibTrans" cxnId="{D9C805F0-C1B6-43AC-B8B2-4D03D454DACE}">
      <dgm:prSet/>
      <dgm:spPr/>
      <dgm:t>
        <a:bodyPr/>
        <a:lstStyle/>
        <a:p>
          <a:endParaRPr lang="en-US"/>
        </a:p>
      </dgm:t>
    </dgm:pt>
    <dgm:pt modelId="{CB9F94C7-63F1-469F-BF6F-47400A142B38}">
      <dgm:prSet/>
      <dgm:spPr/>
      <dgm:t>
        <a:bodyPr/>
        <a:lstStyle/>
        <a:p>
          <a:pPr rtl="0"/>
          <a:r>
            <a:rPr lang="en-US" b="0" i="0" smtClean="0"/>
            <a:t>The Goal: Code reuse. You write the code once in the base class so you don't have to rewrite it for every specific type.</a:t>
          </a:r>
          <a:endParaRPr lang="en-US"/>
        </a:p>
      </dgm:t>
    </dgm:pt>
    <dgm:pt modelId="{F83BFE8B-A1D1-4B20-B1A9-E1804462A6E9}" type="parTrans" cxnId="{8F9600CA-7D2D-4718-83EF-FB17C1F3183C}">
      <dgm:prSet/>
      <dgm:spPr/>
      <dgm:t>
        <a:bodyPr/>
        <a:lstStyle/>
        <a:p>
          <a:endParaRPr lang="en-US"/>
        </a:p>
      </dgm:t>
    </dgm:pt>
    <dgm:pt modelId="{BEDE5C34-E202-4A94-9774-002114FBA8F2}" type="sibTrans" cxnId="{8F9600CA-7D2D-4718-83EF-FB17C1F3183C}">
      <dgm:prSet/>
      <dgm:spPr/>
      <dgm:t>
        <a:bodyPr/>
        <a:lstStyle/>
        <a:p>
          <a:endParaRPr lang="en-US"/>
        </a:p>
      </dgm:t>
    </dgm:pt>
    <dgm:pt modelId="{7350B2ED-0887-42CD-A1B7-D026A048D496}">
      <dgm:prSet/>
      <dgm:spPr/>
      <dgm:t>
        <a:bodyPr/>
        <a:lstStyle/>
        <a:p>
          <a:pPr rtl="0"/>
          <a:r>
            <a:rPr lang="en-US" b="0" i="0" smtClean="0"/>
            <a:t>Example: If you have classes for Car, Truck, and Motorcycle, you can generalize them into a base class called Vehicle</a:t>
          </a:r>
          <a:endParaRPr lang="en-US"/>
        </a:p>
      </dgm:t>
    </dgm:pt>
    <dgm:pt modelId="{A4367D5A-B6D4-46AB-951A-BA7A0346ECB8}" type="parTrans" cxnId="{B239C122-EF4C-48CC-B5E2-98AC96EF3F3A}">
      <dgm:prSet/>
      <dgm:spPr/>
      <dgm:t>
        <a:bodyPr/>
        <a:lstStyle/>
        <a:p>
          <a:endParaRPr lang="en-US"/>
        </a:p>
      </dgm:t>
    </dgm:pt>
    <dgm:pt modelId="{13322951-224F-4140-BB2B-73FDA88FD6C5}" type="sibTrans" cxnId="{B239C122-EF4C-48CC-B5E2-98AC96EF3F3A}">
      <dgm:prSet/>
      <dgm:spPr/>
      <dgm:t>
        <a:bodyPr/>
        <a:lstStyle/>
        <a:p>
          <a:endParaRPr lang="en-US"/>
        </a:p>
      </dgm:t>
    </dgm:pt>
    <dgm:pt modelId="{1AEA4627-5674-4A88-8B50-8DA6B33C5A00}" type="pres">
      <dgm:prSet presAssocID="{C5880BF2-A7E4-445C-8668-4838DB5F5FDB}" presName="linear" presStyleCnt="0">
        <dgm:presLayoutVars>
          <dgm:animLvl val="lvl"/>
          <dgm:resizeHandles val="exact"/>
        </dgm:presLayoutVars>
      </dgm:prSet>
      <dgm:spPr/>
    </dgm:pt>
    <dgm:pt modelId="{F76EB630-6777-4ED5-B92B-438D0F06A851}" type="pres">
      <dgm:prSet presAssocID="{A3FEF2F3-01D8-4E6D-9755-7C345CFCC4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1A01B6-1415-4AD4-8DC2-004153DDEA73}" type="pres">
      <dgm:prSet presAssocID="{C93EE6CC-0ED0-4EEE-A927-B729B4A424A2}" presName="spacer" presStyleCnt="0"/>
      <dgm:spPr/>
    </dgm:pt>
    <dgm:pt modelId="{9CA9C2EA-5F68-439F-B5EE-6B78A5ED2B45}" type="pres">
      <dgm:prSet presAssocID="{1B2281B2-F428-41A7-97C5-9789BD04B1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16D0E6-7AC9-4217-BBD3-410128B6A867}" type="pres">
      <dgm:prSet presAssocID="{2687AA4B-5780-4F82-9B0D-9E2D58D4ED7F}" presName="spacer" presStyleCnt="0"/>
      <dgm:spPr/>
    </dgm:pt>
    <dgm:pt modelId="{675D18BD-8D09-4549-8F73-06446D0FE96C}" type="pres">
      <dgm:prSet presAssocID="{CB9F94C7-63F1-469F-BF6F-47400A142B3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06871B-9995-4CC4-8973-7A86A2FCE8E9}" type="pres">
      <dgm:prSet presAssocID="{BEDE5C34-E202-4A94-9774-002114FBA8F2}" presName="spacer" presStyleCnt="0"/>
      <dgm:spPr/>
    </dgm:pt>
    <dgm:pt modelId="{16BC699F-3557-4231-BE58-CB31FC0C2983}" type="pres">
      <dgm:prSet presAssocID="{7350B2ED-0887-42CD-A1B7-D026A048D4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39C122-EF4C-48CC-B5E2-98AC96EF3F3A}" srcId="{C5880BF2-A7E4-445C-8668-4838DB5F5FDB}" destId="{7350B2ED-0887-42CD-A1B7-D026A048D496}" srcOrd="3" destOrd="0" parTransId="{A4367D5A-B6D4-46AB-951A-BA7A0346ECB8}" sibTransId="{13322951-224F-4140-BB2B-73FDA88FD6C5}"/>
    <dgm:cxn modelId="{8F9600CA-7D2D-4718-83EF-FB17C1F3183C}" srcId="{C5880BF2-A7E4-445C-8668-4838DB5F5FDB}" destId="{CB9F94C7-63F1-469F-BF6F-47400A142B38}" srcOrd="2" destOrd="0" parTransId="{F83BFE8B-A1D1-4B20-B1A9-E1804462A6E9}" sibTransId="{BEDE5C34-E202-4A94-9774-002114FBA8F2}"/>
    <dgm:cxn modelId="{1B59B388-A617-401C-9EF0-3F6BFB76524D}" type="presOf" srcId="{CB9F94C7-63F1-469F-BF6F-47400A142B38}" destId="{675D18BD-8D09-4549-8F73-06446D0FE96C}" srcOrd="0" destOrd="0" presId="urn:microsoft.com/office/officeart/2005/8/layout/vList2"/>
    <dgm:cxn modelId="{43072246-3118-4D1E-A9A6-4C534B2E5560}" type="presOf" srcId="{1B2281B2-F428-41A7-97C5-9789BD04B1B4}" destId="{9CA9C2EA-5F68-439F-B5EE-6B78A5ED2B45}" srcOrd="0" destOrd="0" presId="urn:microsoft.com/office/officeart/2005/8/layout/vList2"/>
    <dgm:cxn modelId="{F85BB6EF-66DB-40FB-80D6-A2363AD79433}" type="presOf" srcId="{C5880BF2-A7E4-445C-8668-4838DB5F5FDB}" destId="{1AEA4627-5674-4A88-8B50-8DA6B33C5A00}" srcOrd="0" destOrd="0" presId="urn:microsoft.com/office/officeart/2005/8/layout/vList2"/>
    <dgm:cxn modelId="{D9C805F0-C1B6-43AC-B8B2-4D03D454DACE}" srcId="{C5880BF2-A7E4-445C-8668-4838DB5F5FDB}" destId="{1B2281B2-F428-41A7-97C5-9789BD04B1B4}" srcOrd="1" destOrd="0" parTransId="{E6114816-84AF-41FA-9F76-2E8BB01F2E55}" sibTransId="{2687AA4B-5780-4F82-9B0D-9E2D58D4ED7F}"/>
    <dgm:cxn modelId="{BCFA7680-B7EA-43CA-9D65-900BFD024EBE}" srcId="{C5880BF2-A7E4-445C-8668-4838DB5F5FDB}" destId="{A3FEF2F3-01D8-4E6D-9755-7C345CFCC4D6}" srcOrd="0" destOrd="0" parTransId="{56B77844-8FD5-4917-B4A9-7482745CA13E}" sibTransId="{C93EE6CC-0ED0-4EEE-A927-B729B4A424A2}"/>
    <dgm:cxn modelId="{76CC8803-4F9A-40BA-9459-55D75FBCF930}" type="presOf" srcId="{7350B2ED-0887-42CD-A1B7-D026A048D496}" destId="{16BC699F-3557-4231-BE58-CB31FC0C2983}" srcOrd="0" destOrd="0" presId="urn:microsoft.com/office/officeart/2005/8/layout/vList2"/>
    <dgm:cxn modelId="{B334BCAD-13E3-4568-AAF3-1CA8C60F6DDF}" type="presOf" srcId="{A3FEF2F3-01D8-4E6D-9755-7C345CFCC4D6}" destId="{F76EB630-6777-4ED5-B92B-438D0F06A851}" srcOrd="0" destOrd="0" presId="urn:microsoft.com/office/officeart/2005/8/layout/vList2"/>
    <dgm:cxn modelId="{0E4B77B9-A008-4743-B5E8-FFD7068B40D0}" type="presParOf" srcId="{1AEA4627-5674-4A88-8B50-8DA6B33C5A00}" destId="{F76EB630-6777-4ED5-B92B-438D0F06A851}" srcOrd="0" destOrd="0" presId="urn:microsoft.com/office/officeart/2005/8/layout/vList2"/>
    <dgm:cxn modelId="{90467A50-9809-4B49-A3C2-653A4BA718ED}" type="presParOf" srcId="{1AEA4627-5674-4A88-8B50-8DA6B33C5A00}" destId="{241A01B6-1415-4AD4-8DC2-004153DDEA73}" srcOrd="1" destOrd="0" presId="urn:microsoft.com/office/officeart/2005/8/layout/vList2"/>
    <dgm:cxn modelId="{3FE9CF75-FCFA-448D-A298-DF71B4E0138B}" type="presParOf" srcId="{1AEA4627-5674-4A88-8B50-8DA6B33C5A00}" destId="{9CA9C2EA-5F68-439F-B5EE-6B78A5ED2B45}" srcOrd="2" destOrd="0" presId="urn:microsoft.com/office/officeart/2005/8/layout/vList2"/>
    <dgm:cxn modelId="{A23887DD-CEAF-46AB-99DB-03C4AD578B7F}" type="presParOf" srcId="{1AEA4627-5674-4A88-8B50-8DA6B33C5A00}" destId="{8816D0E6-7AC9-4217-BBD3-410128B6A867}" srcOrd="3" destOrd="0" presId="urn:microsoft.com/office/officeart/2005/8/layout/vList2"/>
    <dgm:cxn modelId="{FE6B2474-F024-4655-B7A9-A448A7AF78FB}" type="presParOf" srcId="{1AEA4627-5674-4A88-8B50-8DA6B33C5A00}" destId="{675D18BD-8D09-4549-8F73-06446D0FE96C}" srcOrd="4" destOrd="0" presId="urn:microsoft.com/office/officeart/2005/8/layout/vList2"/>
    <dgm:cxn modelId="{648DE1EB-58F4-4512-A7E2-E5F78FBCCC46}" type="presParOf" srcId="{1AEA4627-5674-4A88-8B50-8DA6B33C5A00}" destId="{8A06871B-9995-4CC4-8973-7A86A2FCE8E9}" srcOrd="5" destOrd="0" presId="urn:microsoft.com/office/officeart/2005/8/layout/vList2"/>
    <dgm:cxn modelId="{4279F014-B3BC-4A3A-B54A-05AAB4F0668E}" type="presParOf" srcId="{1AEA4627-5674-4A88-8B50-8DA6B33C5A00}" destId="{16BC699F-3557-4231-BE58-CB31FC0C29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880BF2-A7E4-445C-8668-4838DB5F5FDB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3FEF2F3-01D8-4E6D-9755-7C345CFCC4D6}">
      <dgm:prSet/>
      <dgm:spPr/>
      <dgm:t>
        <a:bodyPr/>
        <a:lstStyle/>
        <a:p>
          <a:pPr rtl="0"/>
          <a:r>
            <a:rPr lang="en-US" b="0" i="0" dirty="0" smtClean="0"/>
            <a:t>In C++, generalization is implemented through derived Classes. </a:t>
          </a:r>
          <a:endParaRPr lang="en-US" dirty="0"/>
        </a:p>
      </dgm:t>
    </dgm:pt>
    <dgm:pt modelId="{56B77844-8FD5-4917-B4A9-7482745CA13E}" type="parTrans" cxnId="{BCFA7680-B7EA-43CA-9D65-900BFD024EBE}">
      <dgm:prSet/>
      <dgm:spPr/>
      <dgm:t>
        <a:bodyPr/>
        <a:lstStyle/>
        <a:p>
          <a:endParaRPr lang="en-US"/>
        </a:p>
      </dgm:t>
    </dgm:pt>
    <dgm:pt modelId="{C93EE6CC-0ED0-4EEE-A927-B729B4A424A2}" type="sibTrans" cxnId="{BCFA7680-B7EA-43CA-9D65-900BFD024EBE}">
      <dgm:prSet/>
      <dgm:spPr/>
      <dgm:t>
        <a:bodyPr/>
        <a:lstStyle/>
        <a:p>
          <a:endParaRPr lang="en-US"/>
        </a:p>
      </dgm:t>
    </dgm:pt>
    <dgm:pt modelId="{1B2281B2-F428-41A7-97C5-9789BD04B1B4}">
      <dgm:prSet/>
      <dgm:spPr/>
      <dgm:t>
        <a:bodyPr/>
        <a:lstStyle/>
        <a:p>
          <a:pPr rtl="0"/>
          <a:r>
            <a:rPr lang="en-US" b="0" i="0" dirty="0" smtClean="0"/>
            <a:t>We want to add a new class to an existing model </a:t>
          </a:r>
          <a:endParaRPr lang="en-US" dirty="0"/>
        </a:p>
      </dgm:t>
    </dgm:pt>
    <dgm:pt modelId="{E6114816-84AF-41FA-9F76-2E8BB01F2E55}" type="parTrans" cxnId="{D9C805F0-C1B6-43AC-B8B2-4D03D454DACE}">
      <dgm:prSet/>
      <dgm:spPr/>
      <dgm:t>
        <a:bodyPr/>
        <a:lstStyle/>
        <a:p>
          <a:endParaRPr lang="en-US"/>
        </a:p>
      </dgm:t>
    </dgm:pt>
    <dgm:pt modelId="{2687AA4B-5780-4F82-9B0D-9E2D58D4ED7F}" type="sibTrans" cxnId="{D9C805F0-C1B6-43AC-B8B2-4D03D454DACE}">
      <dgm:prSet/>
      <dgm:spPr/>
      <dgm:t>
        <a:bodyPr/>
        <a:lstStyle/>
        <a:p>
          <a:endParaRPr lang="en-US"/>
        </a:p>
      </dgm:t>
    </dgm:pt>
    <dgm:pt modelId="{CB9F94C7-63F1-469F-BF6F-47400A142B38}">
      <dgm:prSet/>
      <dgm:spPr/>
      <dgm:t>
        <a:bodyPr/>
        <a:lstStyle/>
        <a:p>
          <a:pPr rtl="0"/>
          <a:r>
            <a:rPr lang="en-US" b="0" i="0" dirty="0" smtClean="0"/>
            <a:t>Inherit the new class from this class and add unique behavior to the new class</a:t>
          </a:r>
          <a:endParaRPr lang="en-US" dirty="0"/>
        </a:p>
      </dgm:t>
    </dgm:pt>
    <dgm:pt modelId="{F83BFE8B-A1D1-4B20-B1A9-E1804462A6E9}" type="parTrans" cxnId="{8F9600CA-7D2D-4718-83EF-FB17C1F3183C}">
      <dgm:prSet/>
      <dgm:spPr/>
      <dgm:t>
        <a:bodyPr/>
        <a:lstStyle/>
        <a:p>
          <a:endParaRPr lang="en-US"/>
        </a:p>
      </dgm:t>
    </dgm:pt>
    <dgm:pt modelId="{BEDE5C34-E202-4A94-9774-002114FBA8F2}" type="sibTrans" cxnId="{8F9600CA-7D2D-4718-83EF-FB17C1F3183C}">
      <dgm:prSet/>
      <dgm:spPr/>
      <dgm:t>
        <a:bodyPr/>
        <a:lstStyle/>
        <a:p>
          <a:endParaRPr lang="en-US"/>
        </a:p>
      </dgm:t>
    </dgm:pt>
    <dgm:pt modelId="{7350B2ED-0887-42CD-A1B7-D026A048D496}">
      <dgm:prSet/>
      <dgm:spPr/>
      <dgm:t>
        <a:bodyPr/>
        <a:lstStyle/>
        <a:p>
          <a:pPr rtl="0"/>
          <a:r>
            <a:rPr lang="en-US" b="0" i="0" dirty="0" smtClean="0"/>
            <a:t>Example: Car , Truck and Motorcycle are </a:t>
          </a:r>
          <a:r>
            <a:rPr lang="en-US" b="0" i="0" dirty="0" err="1" smtClean="0"/>
            <a:t>spelization</a:t>
          </a:r>
          <a:r>
            <a:rPr lang="en-US" b="0" i="0" dirty="0" smtClean="0"/>
            <a:t>. </a:t>
          </a:r>
          <a:endParaRPr lang="en-US" dirty="0"/>
        </a:p>
      </dgm:t>
    </dgm:pt>
    <dgm:pt modelId="{A4367D5A-B6D4-46AB-951A-BA7A0346ECB8}" type="parTrans" cxnId="{B239C122-EF4C-48CC-B5E2-98AC96EF3F3A}">
      <dgm:prSet/>
      <dgm:spPr/>
      <dgm:t>
        <a:bodyPr/>
        <a:lstStyle/>
        <a:p>
          <a:endParaRPr lang="en-US"/>
        </a:p>
      </dgm:t>
    </dgm:pt>
    <dgm:pt modelId="{13322951-224F-4140-BB2B-73FDA88FD6C5}" type="sibTrans" cxnId="{B239C122-EF4C-48CC-B5E2-98AC96EF3F3A}">
      <dgm:prSet/>
      <dgm:spPr/>
      <dgm:t>
        <a:bodyPr/>
        <a:lstStyle/>
        <a:p>
          <a:endParaRPr lang="en-US"/>
        </a:p>
      </dgm:t>
    </dgm:pt>
    <dgm:pt modelId="{1AEA4627-5674-4A88-8B50-8DA6B33C5A00}" type="pres">
      <dgm:prSet presAssocID="{C5880BF2-A7E4-445C-8668-4838DB5F5FDB}" presName="linear" presStyleCnt="0">
        <dgm:presLayoutVars>
          <dgm:animLvl val="lvl"/>
          <dgm:resizeHandles val="exact"/>
        </dgm:presLayoutVars>
      </dgm:prSet>
      <dgm:spPr/>
    </dgm:pt>
    <dgm:pt modelId="{F76EB630-6777-4ED5-B92B-438D0F06A851}" type="pres">
      <dgm:prSet presAssocID="{A3FEF2F3-01D8-4E6D-9755-7C345CFCC4D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1A01B6-1415-4AD4-8DC2-004153DDEA73}" type="pres">
      <dgm:prSet presAssocID="{C93EE6CC-0ED0-4EEE-A927-B729B4A424A2}" presName="spacer" presStyleCnt="0"/>
      <dgm:spPr/>
    </dgm:pt>
    <dgm:pt modelId="{9CA9C2EA-5F68-439F-B5EE-6B78A5ED2B45}" type="pres">
      <dgm:prSet presAssocID="{1B2281B2-F428-41A7-97C5-9789BD04B1B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6D0E6-7AC9-4217-BBD3-410128B6A867}" type="pres">
      <dgm:prSet presAssocID="{2687AA4B-5780-4F82-9B0D-9E2D58D4ED7F}" presName="spacer" presStyleCnt="0"/>
      <dgm:spPr/>
    </dgm:pt>
    <dgm:pt modelId="{675D18BD-8D09-4549-8F73-06446D0FE96C}" type="pres">
      <dgm:prSet presAssocID="{CB9F94C7-63F1-469F-BF6F-47400A142B3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06871B-9995-4CC4-8973-7A86A2FCE8E9}" type="pres">
      <dgm:prSet presAssocID="{BEDE5C34-E202-4A94-9774-002114FBA8F2}" presName="spacer" presStyleCnt="0"/>
      <dgm:spPr/>
    </dgm:pt>
    <dgm:pt modelId="{16BC699F-3557-4231-BE58-CB31FC0C2983}" type="pres">
      <dgm:prSet presAssocID="{7350B2ED-0887-42CD-A1B7-D026A048D496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C805F0-C1B6-43AC-B8B2-4D03D454DACE}" srcId="{C5880BF2-A7E4-445C-8668-4838DB5F5FDB}" destId="{1B2281B2-F428-41A7-97C5-9789BD04B1B4}" srcOrd="1" destOrd="0" parTransId="{E6114816-84AF-41FA-9F76-2E8BB01F2E55}" sibTransId="{2687AA4B-5780-4F82-9B0D-9E2D58D4ED7F}"/>
    <dgm:cxn modelId="{4CC9B021-99FC-4E75-B22B-4E60B0E47C60}" type="presOf" srcId="{A3FEF2F3-01D8-4E6D-9755-7C345CFCC4D6}" destId="{F76EB630-6777-4ED5-B92B-438D0F06A851}" srcOrd="0" destOrd="0" presId="urn:microsoft.com/office/officeart/2005/8/layout/vList2"/>
    <dgm:cxn modelId="{8F9600CA-7D2D-4718-83EF-FB17C1F3183C}" srcId="{C5880BF2-A7E4-445C-8668-4838DB5F5FDB}" destId="{CB9F94C7-63F1-469F-BF6F-47400A142B38}" srcOrd="2" destOrd="0" parTransId="{F83BFE8B-A1D1-4B20-B1A9-E1804462A6E9}" sibTransId="{BEDE5C34-E202-4A94-9774-002114FBA8F2}"/>
    <dgm:cxn modelId="{B12633B9-6A7D-4DDC-A1A0-88D7FD501D7B}" type="presOf" srcId="{C5880BF2-A7E4-445C-8668-4838DB5F5FDB}" destId="{1AEA4627-5674-4A88-8B50-8DA6B33C5A00}" srcOrd="0" destOrd="0" presId="urn:microsoft.com/office/officeart/2005/8/layout/vList2"/>
    <dgm:cxn modelId="{BCFA7680-B7EA-43CA-9D65-900BFD024EBE}" srcId="{C5880BF2-A7E4-445C-8668-4838DB5F5FDB}" destId="{A3FEF2F3-01D8-4E6D-9755-7C345CFCC4D6}" srcOrd="0" destOrd="0" parTransId="{56B77844-8FD5-4917-B4A9-7482745CA13E}" sibTransId="{C93EE6CC-0ED0-4EEE-A927-B729B4A424A2}"/>
    <dgm:cxn modelId="{D904AD73-C0D8-4969-A44F-54D6B16F8F94}" type="presOf" srcId="{CB9F94C7-63F1-469F-BF6F-47400A142B38}" destId="{675D18BD-8D09-4549-8F73-06446D0FE96C}" srcOrd="0" destOrd="0" presId="urn:microsoft.com/office/officeart/2005/8/layout/vList2"/>
    <dgm:cxn modelId="{B239C122-EF4C-48CC-B5E2-98AC96EF3F3A}" srcId="{C5880BF2-A7E4-445C-8668-4838DB5F5FDB}" destId="{7350B2ED-0887-42CD-A1B7-D026A048D496}" srcOrd="3" destOrd="0" parTransId="{A4367D5A-B6D4-46AB-951A-BA7A0346ECB8}" sibTransId="{13322951-224F-4140-BB2B-73FDA88FD6C5}"/>
    <dgm:cxn modelId="{37B3FDEE-7430-4AE0-B328-ED53DC5AF548}" type="presOf" srcId="{7350B2ED-0887-42CD-A1B7-D026A048D496}" destId="{16BC699F-3557-4231-BE58-CB31FC0C2983}" srcOrd="0" destOrd="0" presId="urn:microsoft.com/office/officeart/2005/8/layout/vList2"/>
    <dgm:cxn modelId="{ED7678B6-6B9D-44B7-BEF1-FEB829BE05A1}" type="presOf" srcId="{1B2281B2-F428-41A7-97C5-9789BD04B1B4}" destId="{9CA9C2EA-5F68-439F-B5EE-6B78A5ED2B45}" srcOrd="0" destOrd="0" presId="urn:microsoft.com/office/officeart/2005/8/layout/vList2"/>
    <dgm:cxn modelId="{5CE891C2-9115-495B-A4D8-6BE8D91D8C1A}" type="presParOf" srcId="{1AEA4627-5674-4A88-8B50-8DA6B33C5A00}" destId="{F76EB630-6777-4ED5-B92B-438D0F06A851}" srcOrd="0" destOrd="0" presId="urn:microsoft.com/office/officeart/2005/8/layout/vList2"/>
    <dgm:cxn modelId="{6BFF93F3-E25B-4F69-9961-866B8276F247}" type="presParOf" srcId="{1AEA4627-5674-4A88-8B50-8DA6B33C5A00}" destId="{241A01B6-1415-4AD4-8DC2-004153DDEA73}" srcOrd="1" destOrd="0" presId="urn:microsoft.com/office/officeart/2005/8/layout/vList2"/>
    <dgm:cxn modelId="{13737FA6-3F7B-4966-A43A-D666FC03685A}" type="presParOf" srcId="{1AEA4627-5674-4A88-8B50-8DA6B33C5A00}" destId="{9CA9C2EA-5F68-439F-B5EE-6B78A5ED2B45}" srcOrd="2" destOrd="0" presId="urn:microsoft.com/office/officeart/2005/8/layout/vList2"/>
    <dgm:cxn modelId="{CE27D782-C45C-46DC-B9CA-C239D35A0B1C}" type="presParOf" srcId="{1AEA4627-5674-4A88-8B50-8DA6B33C5A00}" destId="{8816D0E6-7AC9-4217-BBD3-410128B6A867}" srcOrd="3" destOrd="0" presId="urn:microsoft.com/office/officeart/2005/8/layout/vList2"/>
    <dgm:cxn modelId="{FDF1C928-524E-483D-826C-FBDD20B81750}" type="presParOf" srcId="{1AEA4627-5674-4A88-8B50-8DA6B33C5A00}" destId="{675D18BD-8D09-4549-8F73-06446D0FE96C}" srcOrd="4" destOrd="0" presId="urn:microsoft.com/office/officeart/2005/8/layout/vList2"/>
    <dgm:cxn modelId="{19A1DF54-A717-4E41-9EBF-5143AB029D8D}" type="presParOf" srcId="{1AEA4627-5674-4A88-8B50-8DA6B33C5A00}" destId="{8A06871B-9995-4CC4-8973-7A86A2FCE8E9}" srcOrd="5" destOrd="0" presId="urn:microsoft.com/office/officeart/2005/8/layout/vList2"/>
    <dgm:cxn modelId="{61141BF9-7096-4049-A7DF-89349799EB37}" type="presParOf" srcId="{1AEA4627-5674-4A88-8B50-8DA6B33C5A00}" destId="{16BC699F-3557-4231-BE58-CB31FC0C29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EB630-6777-4ED5-B92B-438D0F06A851}">
      <dsp:nvSpPr>
        <dsp:cNvPr id="0" name=""/>
        <dsp:cNvSpPr/>
      </dsp:nvSpPr>
      <dsp:spPr>
        <a:xfrm>
          <a:off x="0" y="47173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dirty="0" smtClean="0"/>
            <a:t>In C++, generalization is implemented through Base Classes. </a:t>
          </a:r>
          <a:endParaRPr lang="en-US" sz="4500" kern="1200" dirty="0"/>
        </a:p>
      </dsp:txBody>
      <dsp:txXfrm>
        <a:off x="83530" y="130703"/>
        <a:ext cx="16760120" cy="1544065"/>
      </dsp:txXfrm>
    </dsp:sp>
    <dsp:sp modelId="{9CA9C2EA-5F68-439F-B5EE-6B78A5ED2B45}">
      <dsp:nvSpPr>
        <dsp:cNvPr id="0" name=""/>
        <dsp:cNvSpPr/>
      </dsp:nvSpPr>
      <dsp:spPr>
        <a:xfrm>
          <a:off x="0" y="1887898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smtClean="0"/>
            <a:t>You take several classes that have similar behaviors and "pull" those common features up into a single parent class.</a:t>
          </a:r>
          <a:endParaRPr lang="en-US" sz="4500" kern="1200"/>
        </a:p>
      </dsp:txBody>
      <dsp:txXfrm>
        <a:off x="83530" y="1971428"/>
        <a:ext cx="16760120" cy="1544065"/>
      </dsp:txXfrm>
    </dsp:sp>
    <dsp:sp modelId="{675D18BD-8D09-4549-8F73-06446D0FE96C}">
      <dsp:nvSpPr>
        <dsp:cNvPr id="0" name=""/>
        <dsp:cNvSpPr/>
      </dsp:nvSpPr>
      <dsp:spPr>
        <a:xfrm>
          <a:off x="0" y="3728623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smtClean="0"/>
            <a:t>The Goal: Code reuse. You write the code once in the base class so you don't have to rewrite it for every specific type.</a:t>
          </a:r>
          <a:endParaRPr lang="en-US" sz="4500" kern="1200"/>
        </a:p>
      </dsp:txBody>
      <dsp:txXfrm>
        <a:off x="83530" y="3812153"/>
        <a:ext cx="16760120" cy="1544065"/>
      </dsp:txXfrm>
    </dsp:sp>
    <dsp:sp modelId="{16BC699F-3557-4231-BE58-CB31FC0C2983}">
      <dsp:nvSpPr>
        <dsp:cNvPr id="0" name=""/>
        <dsp:cNvSpPr/>
      </dsp:nvSpPr>
      <dsp:spPr>
        <a:xfrm>
          <a:off x="0" y="5569348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smtClean="0"/>
            <a:t>Example: If you have classes for Car, Truck, and Motorcycle, you can generalize them into a base class called Vehicle</a:t>
          </a:r>
          <a:endParaRPr lang="en-US" sz="4500" kern="1200"/>
        </a:p>
      </dsp:txBody>
      <dsp:txXfrm>
        <a:off x="83530" y="5652878"/>
        <a:ext cx="16760120" cy="15440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EB630-6777-4ED5-B92B-438D0F06A851}">
      <dsp:nvSpPr>
        <dsp:cNvPr id="0" name=""/>
        <dsp:cNvSpPr/>
      </dsp:nvSpPr>
      <dsp:spPr>
        <a:xfrm>
          <a:off x="0" y="47173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dirty="0" smtClean="0"/>
            <a:t>In C++, generalization is implemented through derived Classes. </a:t>
          </a:r>
          <a:endParaRPr lang="en-US" sz="4500" kern="1200" dirty="0"/>
        </a:p>
      </dsp:txBody>
      <dsp:txXfrm>
        <a:off x="83530" y="130703"/>
        <a:ext cx="16760120" cy="1544065"/>
      </dsp:txXfrm>
    </dsp:sp>
    <dsp:sp modelId="{9CA9C2EA-5F68-439F-B5EE-6B78A5ED2B45}">
      <dsp:nvSpPr>
        <dsp:cNvPr id="0" name=""/>
        <dsp:cNvSpPr/>
      </dsp:nvSpPr>
      <dsp:spPr>
        <a:xfrm>
          <a:off x="0" y="1887898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dirty="0" smtClean="0"/>
            <a:t>We want to add a new class to an existing model </a:t>
          </a:r>
          <a:endParaRPr lang="en-US" sz="4500" kern="1200" dirty="0"/>
        </a:p>
      </dsp:txBody>
      <dsp:txXfrm>
        <a:off x="83530" y="1971428"/>
        <a:ext cx="16760120" cy="1544065"/>
      </dsp:txXfrm>
    </dsp:sp>
    <dsp:sp modelId="{675D18BD-8D09-4549-8F73-06446D0FE96C}">
      <dsp:nvSpPr>
        <dsp:cNvPr id="0" name=""/>
        <dsp:cNvSpPr/>
      </dsp:nvSpPr>
      <dsp:spPr>
        <a:xfrm>
          <a:off x="0" y="3728623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dirty="0" smtClean="0"/>
            <a:t>Inherit the new class from this class and add unique behavior to the new class</a:t>
          </a:r>
          <a:endParaRPr lang="en-US" sz="4500" kern="1200" dirty="0"/>
        </a:p>
      </dsp:txBody>
      <dsp:txXfrm>
        <a:off x="83530" y="3812153"/>
        <a:ext cx="16760120" cy="1544065"/>
      </dsp:txXfrm>
    </dsp:sp>
    <dsp:sp modelId="{16BC699F-3557-4231-BE58-CB31FC0C2983}">
      <dsp:nvSpPr>
        <dsp:cNvPr id="0" name=""/>
        <dsp:cNvSpPr/>
      </dsp:nvSpPr>
      <dsp:spPr>
        <a:xfrm>
          <a:off x="0" y="5569348"/>
          <a:ext cx="16927180" cy="171112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b="0" i="0" kern="1200" dirty="0" smtClean="0"/>
            <a:t>Example: Car , Truck and Motorcycle are </a:t>
          </a:r>
          <a:r>
            <a:rPr lang="en-US" sz="4500" b="0" i="0" kern="1200" dirty="0" err="1" smtClean="0"/>
            <a:t>spelization</a:t>
          </a:r>
          <a:r>
            <a:rPr lang="en-US" sz="4500" b="0" i="0" kern="1200" dirty="0" smtClean="0"/>
            <a:t>. </a:t>
          </a:r>
          <a:endParaRPr lang="en-US" sz="4500" kern="1200" dirty="0"/>
        </a:p>
      </dsp:txBody>
      <dsp:txXfrm>
        <a:off x="83530" y="5652878"/>
        <a:ext cx="16760120" cy="1544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173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2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body" idx="1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2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>
            <a:spLocks noGrp="1"/>
          </p:cNvSpPr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body" idx="1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body" idx="2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>
            <a:spLocks noGrp="1"/>
          </p:cNvSpPr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83" name="Google Shape;383;p10"/>
          <p:cNvSpPr>
            <a:spLocks noGrp="1"/>
          </p:cNvSpPr>
          <p:nvPr>
            <p:ph type="pic" idx="2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>
            <a:spLocks noGrp="1"/>
          </p:cNvSpPr>
          <p:nvPr>
            <p:ph type="body" idx="1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sz="1250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38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238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238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641008" y="7256645"/>
            <a:ext cx="6529522" cy="1437158"/>
            <a:chOff x="0" y="-47625"/>
            <a:chExt cx="1719710" cy="378511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641008" y="7080577"/>
            <a:ext cx="6529522" cy="1437158"/>
            <a:chOff x="0" y="-47625"/>
            <a:chExt cx="1719710" cy="378511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66" name="Google Shape;466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491" name="Google Shape;491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3" name="Google Shape;493;p11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494" name="Google Shape;494;p11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1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498" name="Google Shape;498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1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01" name="Google Shape;50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11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04" name="Google Shape;50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11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07" name="Google Shape;507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1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10" name="Google Shape;510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1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13" name="Google Shape;513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1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11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19" name="Google Shape;519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2" name="Google Shape;522;p11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523" name="Google Shape;523;p11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524" name="Google Shape;524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1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527" name="Google Shape;527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1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530" name="Google Shape;530;p11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1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533" name="Google Shape;533;p11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5" name="Google Shape;535;p11"/>
          <p:cNvSpPr txBox="1"/>
          <p:nvPr/>
        </p:nvSpPr>
        <p:spPr>
          <a:xfrm>
            <a:off x="844802" y="2958231"/>
            <a:ext cx="88935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smtClean="0">
                <a:solidFill>
                  <a:srgbClr val="393A3F"/>
                </a:solidFill>
                <a:latin typeface="Anton"/>
                <a:sym typeface="Anton"/>
              </a:rPr>
              <a:t>Object Oriented Programming</a:t>
            </a:r>
            <a:endParaRPr sz="1100" dirty="0"/>
          </a:p>
        </p:txBody>
      </p:sp>
      <p:sp>
        <p:nvSpPr>
          <p:cNvPr id="536" name="Google Shape;536;p11"/>
          <p:cNvSpPr txBox="1"/>
          <p:nvPr/>
        </p:nvSpPr>
        <p:spPr>
          <a:xfrm>
            <a:off x="1191550" y="7437471"/>
            <a:ext cx="4242656" cy="110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63" b="0" i="0" u="none" strike="noStrike" cap="none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Week 2</a:t>
            </a:r>
            <a:endParaRPr dirty="0"/>
          </a:p>
        </p:txBody>
      </p:sp>
      <p:pic>
        <p:nvPicPr>
          <p:cNvPr id="537" name="Google Shape;53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8500" y="1596000"/>
            <a:ext cx="7051144" cy="65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65" y="261315"/>
            <a:ext cx="16500000" cy="114300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Recap</a:t>
            </a:r>
            <a:endParaRPr lang="en-US" sz="9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" y="1344224"/>
            <a:ext cx="14024610" cy="744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174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5880" y="3211830"/>
            <a:ext cx="2788920" cy="1257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Student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4380" y="594360"/>
            <a:ext cx="16500000" cy="1143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Think tank..!!</a:t>
            </a:r>
            <a:endParaRPr lang="en-US" sz="6000" dirty="0"/>
          </a:p>
        </p:txBody>
      </p:sp>
      <p:sp>
        <p:nvSpPr>
          <p:cNvPr id="4" name="Rectangle 3"/>
          <p:cNvSpPr/>
          <p:nvPr/>
        </p:nvSpPr>
        <p:spPr>
          <a:xfrm>
            <a:off x="4823460" y="3211830"/>
            <a:ext cx="2788920" cy="1257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Teacher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978140" y="3211830"/>
            <a:ext cx="2788920" cy="1257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4518660"/>
            <a:ext cx="2788920" cy="3627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Father 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Address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Blood Group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Program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Semester</a:t>
            </a:r>
          </a:p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23460" y="4518660"/>
            <a:ext cx="2788920" cy="3627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Father 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Address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Blood Group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Designation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Qualification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Salary</a:t>
            </a:r>
          </a:p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78140" y="4579620"/>
            <a:ext cx="2788920" cy="3627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Father Name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Address</a:t>
            </a:r>
          </a:p>
          <a:p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Blood Group</a:t>
            </a:r>
          </a:p>
          <a:p>
            <a:r>
              <a:rPr lang="en-US" sz="3200" dirty="0">
                <a:latin typeface="Cambria Math" pitchFamily="18" charset="0"/>
                <a:ea typeface="Cambria Math" pitchFamily="18" charset="0"/>
              </a:rPr>
              <a:t>Designation</a:t>
            </a:r>
          </a:p>
          <a:p>
            <a:r>
              <a:rPr lang="en-US" sz="3200" dirty="0">
                <a:latin typeface="Cambria Math" pitchFamily="18" charset="0"/>
                <a:ea typeface="Cambria Math" pitchFamily="18" charset="0"/>
              </a:rPr>
              <a:t>Qualification</a:t>
            </a:r>
          </a:p>
          <a:p>
            <a:r>
              <a:rPr lang="en-US" sz="3200" dirty="0">
                <a:latin typeface="Cambria Math" pitchFamily="18" charset="0"/>
                <a:ea typeface="Cambria Math" pitchFamily="18" charset="0"/>
              </a:rPr>
              <a:t>Salary</a:t>
            </a:r>
          </a:p>
          <a:p>
            <a:endParaRPr lang="en-US" sz="3200" dirty="0" smtClean="0">
              <a:latin typeface="Cambria Math" pitchFamily="18" charset="0"/>
              <a:ea typeface="Cambria Math" pitchFamily="18" charset="0"/>
            </a:endParaRPr>
          </a:p>
          <a:p>
            <a:endParaRPr lang="en-US" sz="3200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5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Base (Parent) Class</a:t>
            </a:r>
            <a:endParaRPr dirty="0"/>
          </a:p>
        </p:txBody>
      </p:sp>
      <p:sp>
        <p:nvSpPr>
          <p:cNvPr id="707" name="Google Shape;707;p13"/>
          <p:cNvSpPr txBox="1"/>
          <p:nvPr/>
        </p:nvSpPr>
        <p:spPr>
          <a:xfrm>
            <a:off x="857900" y="2623962"/>
            <a:ext cx="16723739" cy="457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4388"/>
              </a:lnSpc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A base class (also called a parent class or super class) is a class that provides its attributes (data members) and behaviors (member functions) to one or more derived classes. It serves as a general template from which specialized classes can inherit properties and functionality</a:t>
            </a:r>
            <a:endParaRPr lang="en-US" sz="48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25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0" y="274320"/>
            <a:ext cx="13974553" cy="9578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47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Derived (Child) Class</a:t>
            </a:r>
            <a:endParaRPr dirty="0"/>
          </a:p>
        </p:txBody>
      </p:sp>
      <p:sp>
        <p:nvSpPr>
          <p:cNvPr id="707" name="Google Shape;707;p13"/>
          <p:cNvSpPr txBox="1"/>
          <p:nvPr/>
        </p:nvSpPr>
        <p:spPr>
          <a:xfrm>
            <a:off x="857900" y="2623962"/>
            <a:ext cx="16723739" cy="457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4388"/>
              </a:lnSpc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A derived class (also called a child class or subclass) is a class that inherits attributes (data members) and behaviors (member functions) from a base class. It can reuse, extend, or modify the properties and functions of the base class to implement more specialized behavior.</a:t>
            </a:r>
            <a:endParaRPr lang="en-US" sz="48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575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48840"/>
            <a:ext cx="16197172" cy="544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089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21" y="1760221"/>
            <a:ext cx="16036768" cy="460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471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668780"/>
            <a:ext cx="16505238" cy="6423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78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Access Specifiers </a:t>
            </a:r>
            <a:endParaRPr dirty="0"/>
          </a:p>
        </p:txBody>
      </p:sp>
      <p:sp>
        <p:nvSpPr>
          <p:cNvPr id="707" name="Google Shape;707;p13"/>
          <p:cNvSpPr txBox="1"/>
          <p:nvPr/>
        </p:nvSpPr>
        <p:spPr>
          <a:xfrm>
            <a:off x="857900" y="2623962"/>
            <a:ext cx="16723739" cy="274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4388"/>
              </a:lnSpc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When a class inherits from a base class, access </a:t>
            </a:r>
            <a:r>
              <a:rPr lang="en-US" sz="4800" dirty="0" err="1">
                <a:latin typeface="Times New Roman" pitchFamily="18" charset="0"/>
                <a:cs typeface="Times New Roman" pitchFamily="18" charset="0"/>
              </a:rPr>
              <a:t>specifiers</a:t>
            </a: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 determine how the members of the base class are accessible in the derived class.</a:t>
            </a:r>
            <a:endParaRPr lang="en-US" sz="48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04080"/>
              </p:ext>
            </p:extLst>
          </p:nvPr>
        </p:nvGraphicFramePr>
        <p:xfrm>
          <a:off x="2743197" y="5943600"/>
          <a:ext cx="13327382" cy="2804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63691"/>
                <a:gridCol w="6663691"/>
              </a:tblGrid>
              <a:tr h="0">
                <a:tc>
                  <a:txBody>
                    <a:bodyPr/>
                    <a:lstStyle/>
                    <a:p>
                      <a:r>
                        <a:rPr lang="en-US" sz="4000" dirty="0"/>
                        <a:t>Base class member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Derived class access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4000"/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public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4000"/>
                        <a:t>protected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/>
                        <a:t>protected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4000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not inherited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30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Function Overriding</a:t>
            </a:r>
            <a:endParaRPr dirty="0"/>
          </a:p>
        </p:txBody>
      </p:sp>
      <p:sp>
        <p:nvSpPr>
          <p:cNvPr id="707" name="Google Shape;707;p13"/>
          <p:cNvSpPr txBox="1"/>
          <p:nvPr/>
        </p:nvSpPr>
        <p:spPr>
          <a:xfrm>
            <a:off x="857900" y="2623962"/>
            <a:ext cx="16723739" cy="641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4388"/>
              </a:lnSpc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Function overriding occurs when a derived class provides its own implementation of a virtual function that is already defined in its base class. This allows the derived class to modify the behavior of a function it inherits</a:t>
            </a:r>
            <a:r>
              <a:rPr lang="en-US" sz="4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685800" lvl="0" indent="-685800" algn="just">
              <a:lnSpc>
                <a:spcPct val="124388"/>
              </a:lnSpc>
              <a:buFont typeface="Arial" pitchFamily="34" charset="0"/>
              <a:buChar char="•"/>
            </a:pPr>
            <a:r>
              <a:rPr lang="en-US" sz="4800" dirty="0" smtClean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Only virtual </a:t>
            </a:r>
            <a:r>
              <a:rPr lang="en-US" sz="4800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functions in the base class can be </a:t>
            </a:r>
            <a:r>
              <a:rPr lang="en-US" sz="4800" dirty="0" smtClean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overridden.</a:t>
            </a:r>
          </a:p>
          <a:p>
            <a:pPr marL="685800" lvl="0" indent="-685800" algn="just">
              <a:lnSpc>
                <a:spcPct val="124388"/>
              </a:lnSpc>
              <a:buFont typeface="Arial" pitchFamily="34" charset="0"/>
              <a:buChar char="•"/>
            </a:pPr>
            <a:r>
              <a:rPr lang="en-US" sz="4800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function signature (name + parameters) in the derived class must exactly match the base class</a:t>
            </a:r>
            <a:endParaRPr lang="en-US" sz="4800" dirty="0">
              <a:solidFill>
                <a:srgbClr val="FF0000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852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Generalization</a:t>
            </a:r>
            <a:endParaRPr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21369311"/>
              </p:ext>
            </p:extLst>
          </p:nvPr>
        </p:nvGraphicFramePr>
        <p:xfrm>
          <a:off x="560720" y="2623962"/>
          <a:ext cx="16927180" cy="7327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980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3"/>
          <p:cNvSpPr txBox="1"/>
          <p:nvPr/>
        </p:nvSpPr>
        <p:spPr>
          <a:xfrm>
            <a:off x="857901" y="315638"/>
            <a:ext cx="1468689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Specialization</a:t>
            </a:r>
            <a:endParaRPr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1521365"/>
              </p:ext>
            </p:extLst>
          </p:nvPr>
        </p:nvGraphicFramePr>
        <p:xfrm>
          <a:off x="560720" y="2623962"/>
          <a:ext cx="16927180" cy="7327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167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248"/>
            <a:ext cx="18257438" cy="1030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03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76" y="182880"/>
            <a:ext cx="17385464" cy="976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324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70" y="685800"/>
            <a:ext cx="17295223" cy="877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99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7"/>
          <p:cNvSpPr/>
          <p:nvPr/>
        </p:nvSpPr>
        <p:spPr>
          <a:xfrm>
            <a:off x="13785666" y="417422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1" name="Google Shape;1691;p27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1692" name="Google Shape;1692;p27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8" name="Google Shape;1698;p27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1699" name="Google Shape;1699;p2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7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1" name="Google Shape;1701;p27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1702" name="Google Shape;1702;p2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7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04" name="Google Shape;1704;p27"/>
          <p:cNvSpPr txBox="1"/>
          <p:nvPr/>
        </p:nvSpPr>
        <p:spPr>
          <a:xfrm>
            <a:off x="1028700" y="726150"/>
            <a:ext cx="8789897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  <a:endParaRPr/>
          </a:p>
        </p:txBody>
      </p:sp>
      <p:grpSp>
        <p:nvGrpSpPr>
          <p:cNvPr id="1705" name="Google Shape;1705;p27"/>
          <p:cNvGrpSpPr/>
          <p:nvPr/>
        </p:nvGrpSpPr>
        <p:grpSpPr>
          <a:xfrm rot="10800000">
            <a:off x="8571723" y="933313"/>
            <a:ext cx="5851054" cy="1309820"/>
            <a:chOff x="0" y="0"/>
            <a:chExt cx="7801405" cy="1746426"/>
          </a:xfrm>
        </p:grpSpPr>
        <p:grpSp>
          <p:nvGrpSpPr>
            <p:cNvPr id="1706" name="Google Shape;1706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07" name="Google Shape;1707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9" name="Google Shape;1709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10" name="Google Shape;1710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2" name="Google Shape;1712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13" name="Google Shape;1713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5" name="Google Shape;1715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16" name="Google Shape;1716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8" name="Google Shape;1718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19" name="Google Shape;1719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7" name="Google Shape;1727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28" name="Google Shape;1728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0" name="Google Shape;1730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31" name="Google Shape;1731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3" name="Google Shape;1733;p27"/>
          <p:cNvGrpSpPr/>
          <p:nvPr/>
        </p:nvGrpSpPr>
        <p:grpSpPr>
          <a:xfrm rot="10800000">
            <a:off x="12023215" y="8251030"/>
            <a:ext cx="5851054" cy="1309820"/>
            <a:chOff x="0" y="0"/>
            <a:chExt cx="7801405" cy="1746426"/>
          </a:xfrm>
        </p:grpSpPr>
        <p:grpSp>
          <p:nvGrpSpPr>
            <p:cNvPr id="1734" name="Google Shape;1734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35" name="Google Shape;1735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7" name="Google Shape;1737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38" name="Google Shape;1738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0" name="Google Shape;1740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3" name="Google Shape;1743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44" name="Google Shape;1744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47" name="Google Shape;1747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9" name="Google Shape;1749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50" name="Google Shape;1750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53" name="Google Shape;1753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5" name="Google Shape;1755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56" name="Google Shape;1756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8" name="Google Shape;1758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59" name="Google Shape;1759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61" name="Google Shape;17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3023657"/>
            <a:ext cx="9824100" cy="653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400</Words>
  <Application>Microsoft Office PowerPoint</Application>
  <PresentationFormat>Custom</PresentationFormat>
  <Paragraphs>62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Anton</vt:lpstr>
      <vt:lpstr>Cambria Math</vt:lpstr>
      <vt:lpstr>Times New Roman</vt:lpstr>
      <vt:lpstr>Calibri</vt:lpstr>
      <vt:lpstr>Programming Lesson Presentation</vt:lpstr>
      <vt:lpstr>PowerPoint Presentation</vt:lpstr>
      <vt:lpstr>Recap</vt:lpstr>
      <vt:lpstr>Think tank..!!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Shayan Ali Shah</dc:creator>
  <cp:lastModifiedBy>Shahid</cp:lastModifiedBy>
  <cp:revision>42</cp:revision>
  <dcterms:modified xsi:type="dcterms:W3CDTF">2026-02-18T07:39:32Z</dcterms:modified>
</cp:coreProperties>
</file>